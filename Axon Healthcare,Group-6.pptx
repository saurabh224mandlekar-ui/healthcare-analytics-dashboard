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60" r:id="rId5"/>
    <p:sldId id="272" r:id="rId6"/>
    <p:sldId id="259" r:id="rId7"/>
    <p:sldId id="273" r:id="rId8"/>
    <p:sldId id="262" r:id="rId9"/>
    <p:sldId id="274" r:id="rId10"/>
    <p:sldId id="267" r:id="rId11"/>
    <p:sldId id="270" r:id="rId12"/>
    <p:sldId id="263" r:id="rId13"/>
    <p:sldId id="268" r:id="rId14"/>
    <p:sldId id="275" r:id="rId15"/>
    <p:sldId id="2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1E4AEA4-8DFA-4A89-87EB-49C32662AFE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78" d="100"/>
          <a:sy n="78" d="100"/>
        </p:scale>
        <p:origin x="878" y="62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3B725B-653D-4166-A8E9-72A38A1847CF}" type="datetimeFigureOut">
              <a:rPr lang="en-US"/>
              <a:t>08-Aug-25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861E8E-D392-497B-BB21-122DD7C27CF3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835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F64CD-0576-4A9A-BD06-7889D6E60BDC}" type="datetimeFigureOut">
              <a:rPr lang="en-US"/>
              <a:t>08-Aug-25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55D449-B875-4B8D-8E66-224D27E54C9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4997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55D449-B875-4B8D-8E66-224D27E54C9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963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81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6225" y="1828800"/>
            <a:ext cx="4098175" cy="317738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6225" y="5181600"/>
            <a:ext cx="4098175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7" name="Picture 6" descr="EKG line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88688" y="-1"/>
            <a:ext cx="7000137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08-Aug-25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75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265112" y="228600"/>
            <a:ext cx="116586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/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828800"/>
            <a:ext cx="7772400" cy="317738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5181600"/>
            <a:ext cx="7772400" cy="685800"/>
          </a:xfrm>
        </p:spPr>
        <p:txBody>
          <a:bodyPr>
            <a:normAutofit/>
          </a:bodyPr>
          <a:lstStyle>
            <a:lvl1pPr marL="0" indent="0">
              <a:buNone/>
              <a:defRPr sz="2000" cap="all" baseline="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0677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4"/>
            <a:ext cx="4800600" cy="457517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08-Aug-25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28799"/>
            <a:ext cx="4800600" cy="762000"/>
          </a:xfrm>
        </p:spPr>
        <p:txBody>
          <a:bodyPr anchor="ctr">
            <a:noAutofit/>
          </a:bodyPr>
          <a:lstStyle>
            <a:lvl1pPr marL="0" indent="0">
              <a:buNone/>
              <a:defRPr sz="2400" b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90799"/>
            <a:ext cx="4800600" cy="381003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08-Aug-25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08-Aug-25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08-Aug-25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270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1"/>
            <a:ext cx="5943600" cy="5943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2699" y="5029200"/>
            <a:ext cx="3932237" cy="13716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descr="Rectangle"/>
          <p:cNvSpPr/>
          <p:nvPr/>
        </p:nvSpPr>
        <p:spPr>
          <a:xfrm>
            <a:off x="7008812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 descr="Rectangle"/>
          <p:cNvSpPr/>
          <p:nvPr/>
        </p:nvSpPr>
        <p:spPr>
          <a:xfrm>
            <a:off x="7255668" y="228600"/>
            <a:ext cx="4686300" cy="6400800"/>
          </a:xfrm>
          <a:prstGeom prst="rect">
            <a:avLst/>
          </a:prstGeom>
          <a:noFill/>
          <a:ln w="15875">
            <a:gradFill flip="none" rotWithShape="1">
              <a:gsLst>
                <a:gs pos="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27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5240" y="3200400"/>
            <a:ext cx="3932237" cy="1752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1" y="0"/>
            <a:ext cx="7008810" cy="6857999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5240" y="5029200"/>
            <a:ext cx="3932237" cy="137464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7249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08-Aug-25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Rectangle"/>
          <p:cNvSpPr/>
          <p:nvPr/>
        </p:nvSpPr>
        <p:spPr>
          <a:xfrm>
            <a:off x="9982200" y="0"/>
            <a:ext cx="22098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457201"/>
            <a:ext cx="2057401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9067800" cy="5943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C0096-1860-4642-9CD2-0079EA5E7CD1}" type="datetimeFigureOut">
              <a:rPr lang="en-US"/>
              <a:t>08-Aug-25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9D9D9"/>
            </a:gs>
            <a:gs pos="100000">
              <a:schemeClr val="bg1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d bar" descr="Red bar"/>
          <p:cNvSpPr/>
          <p:nvPr/>
        </p:nvSpPr>
        <p:spPr>
          <a:xfrm>
            <a:off x="1" y="1"/>
            <a:ext cx="12188824" cy="1524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1">
                  <a:lumMod val="7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99220"/>
            <a:ext cx="10058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0" y="1828799"/>
            <a:ext cx="9144000" cy="4572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481760"/>
            <a:ext cx="78486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67800" y="6465885"/>
            <a:ext cx="10668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37CC0096-1860-4642-9CD2-0079EA5E7CD1}" type="datetimeFigureOut">
              <a:rPr lang="en-US" smtClean="0"/>
              <a:pPr/>
              <a:t>08-Aug-25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481760"/>
            <a:ext cx="838200" cy="239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68680" indent="-182563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51560" indent="-182880" algn="l" defTabSz="914400" rtl="0" eaLnBrk="1" latinLnBrk="0" hangingPunct="1">
        <a:lnSpc>
          <a:spcPct val="90000"/>
        </a:lnSpc>
        <a:spcBef>
          <a:spcPts val="6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3444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41732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60020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83080" indent="-182880" algn="l" defTabSz="914400" rtl="0" eaLnBrk="1" latinLnBrk="0" hangingPunct="1">
        <a:lnSpc>
          <a:spcPct val="90000"/>
        </a:lnSpc>
        <a:spcBef>
          <a:spcPts val="400"/>
        </a:spcBef>
        <a:buSzPct val="100000"/>
        <a:buFont typeface="Arial" pitchFamily="34" charset="0"/>
        <a:buChar char="▪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fif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Axon Healthcare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Group-6</a:t>
            </a:r>
          </a:p>
        </p:txBody>
      </p:sp>
    </p:spTree>
    <p:extLst>
      <p:ext uri="{BB962C8B-B14F-4D97-AF65-F5344CB8AC3E}">
        <p14:creationId xmlns:p14="http://schemas.microsoft.com/office/powerpoint/2010/main" val="43514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0" y="1828799"/>
            <a:ext cx="9753600" cy="3733801"/>
          </a:xfrm>
        </p:spPr>
        <p:txBody>
          <a:bodyPr/>
          <a:lstStyle/>
          <a:p>
            <a:r>
              <a:rPr lang="en-US" dirty="0"/>
              <a:t>Kaviraja</a:t>
            </a:r>
          </a:p>
          <a:p>
            <a:r>
              <a:rPr lang="en-US" dirty="0"/>
              <a:t>Muhammed Shuaib</a:t>
            </a:r>
          </a:p>
          <a:p>
            <a:r>
              <a:rPr lang="en-US" dirty="0"/>
              <a:t>Manish Kumar</a:t>
            </a:r>
          </a:p>
          <a:p>
            <a:r>
              <a:rPr lang="en-US" dirty="0"/>
              <a:t>Sujit Bharat Nale</a:t>
            </a:r>
          </a:p>
          <a:p>
            <a:r>
              <a:rPr lang="en-US" dirty="0"/>
              <a:t>Saurabh Mandlekar</a:t>
            </a:r>
          </a:p>
          <a:p>
            <a:r>
              <a:rPr lang="en-US" dirty="0"/>
              <a:t>Ramjee Prasad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96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Summary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C91BF77-E0B5-9D6E-E4E2-1884C3938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828799"/>
            <a:ext cx="11582400" cy="4724401"/>
          </a:xfrm>
        </p:spPr>
        <p:txBody>
          <a:bodyPr/>
          <a:lstStyle/>
          <a:p>
            <a:pPr marL="0" indent="0">
              <a:buNone/>
            </a:pPr>
            <a:r>
              <a:rPr lang="en-IN" sz="1400" b="1" dirty="0">
                <a:solidFill>
                  <a:srgbClr val="C00000"/>
                </a:solidFill>
              </a:rPr>
              <a:t>Objective: </a:t>
            </a:r>
            <a:r>
              <a:rPr lang="en-US" sz="1400" dirty="0"/>
              <a:t>To analyze hospital performance using EMR data in order to evaluate changes in patient service levels for pre- and post-treatment.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</a:rPr>
              <a:t>Data Used:</a:t>
            </a:r>
            <a:r>
              <a:rPr lang="en-US" sz="1400" b="1" dirty="0"/>
              <a:t> </a:t>
            </a:r>
            <a:r>
              <a:rPr lang="en-US" sz="1400" dirty="0"/>
              <a:t>It’s collected from the hospitals located in 6 cities; Chicago, Houston, Miami, New York, Los Angeles. The dataset is based on almost three years period, starting from 2023 to 2025.</a:t>
            </a:r>
          </a:p>
          <a:p>
            <a:pPr marL="0" indent="0">
              <a:buNone/>
            </a:pPr>
            <a:r>
              <a:rPr lang="en-IN" sz="1400" b="1" dirty="0">
                <a:solidFill>
                  <a:srgbClr val="C00000"/>
                </a:solidFill>
              </a:rPr>
              <a:t>Tools Used: </a:t>
            </a:r>
          </a:p>
          <a:p>
            <a:pPr marL="0" indent="0">
              <a:buNone/>
            </a:pPr>
            <a:endParaRPr lang="en-IN" sz="14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</a:rPr>
              <a:t>Key Features of the Dashboard:</a:t>
            </a:r>
          </a:p>
          <a:p>
            <a:r>
              <a:rPr lang="en-US" sz="1400" dirty="0"/>
              <a:t>Interactive filters (e.g., by Region, Date, Category)</a:t>
            </a:r>
          </a:p>
          <a:p>
            <a:r>
              <a:rPr lang="en-US" sz="1400" dirty="0"/>
              <a:t>KPIs displayed: Doctor Workload , Follow-Up Rate , Average Age of Patients etc.</a:t>
            </a:r>
          </a:p>
          <a:p>
            <a:r>
              <a:rPr lang="en-US" sz="1400" dirty="0"/>
              <a:t>Visuals used: Bar chart, line graph, map, pie etc.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C00000"/>
                </a:solidFill>
              </a:rPr>
              <a:t>Outcome: </a:t>
            </a:r>
            <a:r>
              <a:rPr lang="en-US" sz="1400" dirty="0">
                <a:solidFill>
                  <a:schemeClr val="tx1"/>
                </a:solidFill>
              </a:rPr>
              <a:t>To help administration identify the current trends and identify the gaps to improve patient care/requirements accordingly</a:t>
            </a:r>
            <a:r>
              <a:rPr lang="en-US" sz="1400" b="1" dirty="0">
                <a:solidFill>
                  <a:srgbClr val="C00000"/>
                </a:solidFill>
              </a:rPr>
              <a:t>. </a:t>
            </a:r>
            <a:endParaRPr lang="en-IN" sz="1800" b="1" dirty="0">
              <a:solidFill>
                <a:srgbClr val="C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F02B6F-02F4-E8A7-5B51-9DAC74031E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9172" y="2834485"/>
            <a:ext cx="1490514" cy="635644"/>
          </a:xfrm>
          <a:prstGeom prst="rect">
            <a:avLst/>
          </a:prstGeom>
        </p:spPr>
      </p:pic>
      <p:pic>
        <p:nvPicPr>
          <p:cNvPr id="7" name="Picture 2" descr="Image result for tableau">
            <a:extLst>
              <a:ext uri="{FF2B5EF4-FFF2-40B4-BE49-F238E27FC236}">
                <a16:creationId xmlns:a16="http://schemas.microsoft.com/office/drawing/2014/main" id="{4236B6E1-D3F5-4DEC-A13C-256B838B7B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0561" y="2877890"/>
            <a:ext cx="834686" cy="483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MySQL round logo transparent PNG - StickPNG">
            <a:extLst>
              <a:ext uri="{FF2B5EF4-FFF2-40B4-BE49-F238E27FC236}">
                <a16:creationId xmlns:a16="http://schemas.microsoft.com/office/drawing/2014/main" id="{AF41F709-6A35-7690-CE42-1F9A0AA27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7952" y="2856408"/>
            <a:ext cx="502696" cy="502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logo of a company&#10;&#10;AI-generated content may be incorrect.">
            <a:extLst>
              <a:ext uri="{FF2B5EF4-FFF2-40B4-BE49-F238E27FC236}">
                <a16:creationId xmlns:a16="http://schemas.microsoft.com/office/drawing/2014/main" id="{18A1B103-A8E0-B22E-7E43-6CE1CD9ABE9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804766"/>
            <a:ext cx="548034" cy="54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620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KPI List - </a:t>
            </a:r>
            <a:r>
              <a:rPr lang="en-US" sz="2200" spc="-18" dirty="0">
                <a:solidFill>
                  <a:srgbClr val="FFFFFF">
                    <a:alpha val="100000"/>
                  </a:srgbClr>
                </a:solidFill>
                <a:latin typeface="IBM Plex Sans" panose="00000700000000000000" pitchFamily="2" charset="0"/>
              </a:rPr>
              <a:t>Key performance indicators and their business relevance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600200"/>
            <a:ext cx="11887200" cy="5158580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900" dirty="0"/>
              <a:t>Total Patients </a:t>
            </a:r>
            <a:r>
              <a:rPr lang="en-US" dirty="0"/>
              <a:t>- </a:t>
            </a:r>
            <a:r>
              <a:rPr lang="en-US" sz="1500" dirty="0"/>
              <a:t>Measures the total reach of healthcare services and helps identify growth trends in patient base.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Total Doctors </a:t>
            </a:r>
            <a:r>
              <a:rPr lang="en-US" dirty="0"/>
              <a:t>- </a:t>
            </a:r>
            <a:r>
              <a:rPr lang="en-US" sz="1500" dirty="0"/>
              <a:t>Helps assess staffing levels and capacity for patient care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Total Visits </a:t>
            </a:r>
            <a:r>
              <a:rPr lang="en-US" sz="2200" dirty="0"/>
              <a:t>- </a:t>
            </a:r>
            <a:r>
              <a:rPr lang="en-US" sz="1500" dirty="0"/>
              <a:t>Indicates operational volume, high visit counts may imply strong demand or overutilization.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Average Age of Patients </a:t>
            </a:r>
            <a:r>
              <a:rPr lang="en-US" dirty="0"/>
              <a:t>- </a:t>
            </a:r>
            <a:r>
              <a:rPr lang="en-US" sz="1500" dirty="0"/>
              <a:t>Helps understand the demographic profile and tailor services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Top 5 Diagnosed Conditions </a:t>
            </a:r>
            <a:r>
              <a:rPr lang="en-US" dirty="0"/>
              <a:t>- </a:t>
            </a:r>
            <a:r>
              <a:rPr lang="en-US" sz="1500" dirty="0"/>
              <a:t>Identifies prevalent health issues to prioritize resources and care strategies.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Follow-Up Rate </a:t>
            </a:r>
            <a:r>
              <a:rPr lang="en-US" dirty="0"/>
              <a:t>- </a:t>
            </a:r>
            <a:r>
              <a:rPr lang="en-US" sz="1500" dirty="0"/>
              <a:t>Indicates care continuity and post-treatment monitoring efficiency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Treatment Cost Per Visit </a:t>
            </a:r>
            <a:r>
              <a:rPr lang="en-US" sz="1700" dirty="0"/>
              <a:t>(Avg.) </a:t>
            </a:r>
            <a:r>
              <a:rPr lang="en-US" dirty="0"/>
              <a:t>- </a:t>
            </a:r>
            <a:r>
              <a:rPr lang="en-US" sz="1500" dirty="0"/>
              <a:t>Tracks cost efficiency and helps in budget planning and pricing strategy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Total Lab Tests Conducted </a:t>
            </a:r>
            <a:r>
              <a:rPr lang="en-US" sz="2200" dirty="0"/>
              <a:t>- </a:t>
            </a:r>
            <a:r>
              <a:rPr lang="en-US" sz="1500" dirty="0"/>
              <a:t>Measures diagnostic activity and helps track lab utilization and resource needs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Percentage of Abnormal Lab Results </a:t>
            </a:r>
            <a:r>
              <a:rPr lang="en-US" dirty="0"/>
              <a:t>- </a:t>
            </a:r>
            <a:r>
              <a:rPr lang="en-US" sz="1500" dirty="0"/>
              <a:t>Tracks health trends and alerts clinicians to potential public health risks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Doctor Workload </a:t>
            </a:r>
            <a:r>
              <a:rPr lang="en-US" sz="1500" dirty="0"/>
              <a:t>(Avg Patients Per Doctor)</a:t>
            </a:r>
            <a:r>
              <a:rPr lang="en-US" dirty="0"/>
              <a:t> - </a:t>
            </a:r>
            <a:r>
              <a:rPr lang="en-US" sz="1500" dirty="0"/>
              <a:t>Measures efficiency and workload balance; helps in resource allocation and burnout prevention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900" dirty="0"/>
              <a:t>Total Revenue </a:t>
            </a:r>
            <a:r>
              <a:rPr lang="en-US" dirty="0"/>
              <a:t>- </a:t>
            </a:r>
            <a:r>
              <a:rPr lang="en-US" sz="1500" dirty="0"/>
              <a:t>Core financial KPI indicating income from services; useful for profitability analysis</a:t>
            </a:r>
          </a:p>
        </p:txBody>
      </p:sp>
    </p:spTree>
    <p:extLst>
      <p:ext uri="{BB962C8B-B14F-4D97-AF65-F5344CB8AC3E}">
        <p14:creationId xmlns:p14="http://schemas.microsoft.com/office/powerpoint/2010/main" val="2738627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BE6219F-C9EE-0DB9-AB90-74710454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we did in Excel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D1287DC-6481-1DB2-0E0F-436C978AF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Data Collection &amp; Preparation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965A3-DF95-D8B7-3930-9E51BF74FB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Data was collected from various sources including patient records and billing systems.</a:t>
            </a:r>
          </a:p>
          <a:p>
            <a:r>
              <a:rPr lang="en-US" sz="1600" dirty="0"/>
              <a:t>Initial cleaning involved removing duplicates, handling missing data, and standardizing formats in Excel.</a:t>
            </a:r>
          </a:p>
          <a:p>
            <a:r>
              <a:rPr lang="en-US" sz="1600" dirty="0"/>
              <a:t>Pivot tables and formulas helped summarize and explore the raw data.</a:t>
            </a:r>
          </a:p>
          <a:p>
            <a:endParaRPr lang="en-IN" sz="2000" dirty="0"/>
          </a:p>
          <a:p>
            <a:endParaRPr lang="en-IN" sz="20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C5F33D0-EB89-DA2E-349C-37A6325D2E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b="1" dirty="0"/>
              <a:t>Data Analysis &amp; Visualization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F38F03-72BE-3689-6E4D-C4936F2D683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Analyzed key metrics such as diagnosis distribution and patient age groups.</a:t>
            </a:r>
          </a:p>
          <a:p>
            <a:r>
              <a:rPr lang="en-US" sz="1600" dirty="0"/>
              <a:t>Created charts to visualize the most common illnesses and patient demographics.</a:t>
            </a:r>
          </a:p>
          <a:p>
            <a:r>
              <a:rPr lang="en-US" sz="1600" dirty="0"/>
              <a:t>Identified preliminary patterns to guide further analysis.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9787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Excel Dashboard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2DF1109-4949-00D8-4F08-DE5B5FA9B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600"/>
            <a:ext cx="12192000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826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9E641-112B-0429-2205-F3BF2A2B6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/>
              <a:t>Data Visualization &amp; Insights (Tableau)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369A1-255E-5CD7-E717-A371E5BD6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Connected data sources to Tableau for detailed visual analysis.</a:t>
            </a:r>
          </a:p>
          <a:p>
            <a:r>
              <a:rPr lang="en-US" sz="1600" dirty="0"/>
              <a:t>Built dashboards showing hospital clusters, regional patient distribution, and test result trends.</a:t>
            </a:r>
          </a:p>
          <a:p>
            <a:r>
              <a:rPr lang="en-US" sz="1600" dirty="0"/>
              <a:t>Combined data from main sources in real time for comprehensive analysis.</a:t>
            </a:r>
          </a:p>
          <a:p>
            <a:r>
              <a:rPr lang="en-US" sz="1600" dirty="0"/>
              <a:t>Calculated Fields has been Created to custom metrics and KPIs without needing extensive coding.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1395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99221"/>
            <a:ext cx="10058400" cy="738980"/>
          </a:xfrm>
        </p:spPr>
        <p:txBody>
          <a:bodyPr/>
          <a:lstStyle/>
          <a:p>
            <a:r>
              <a:rPr lang="en-US" b="1" spc="-18" dirty="0">
                <a:solidFill>
                  <a:srgbClr val="FFFFFF">
                    <a:alpha val="100000"/>
                  </a:srgbClr>
                </a:solidFill>
                <a:latin typeface="IBM Plex Sans" panose="00000700000000000000" pitchFamily="2" charset="0"/>
              </a:rPr>
              <a:t>Tableau Dashboard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CA4953-4C55-F1DD-1663-258F34738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8201"/>
            <a:ext cx="12192000" cy="601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673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783E3-24DD-0C9B-C45E-35C73D8BB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/>
              <a:t>Data Retrieval &amp; Management (SQL)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171D5-71E1-3AD2-9D28-64F138A15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Used SQL queries to efficiently extract and analyze large datasets.</a:t>
            </a:r>
          </a:p>
          <a:p>
            <a:r>
              <a:rPr lang="en-US" sz="1600" dirty="0"/>
              <a:t>SQL streamlined data management and enabled complex analyses.</a:t>
            </a:r>
          </a:p>
          <a:p>
            <a:r>
              <a:rPr lang="en-US" sz="1600" dirty="0"/>
              <a:t>Data Validation to ensures data integrity by enforcing constraints and validation rules directly in the database.</a:t>
            </a:r>
          </a:p>
          <a:p>
            <a:r>
              <a:rPr lang="en-US" sz="1600" dirty="0"/>
              <a:t>Data Filtering in SQL to allows precise filtering of data, enabling targeted queries for specific patient groups or time frames.</a:t>
            </a:r>
          </a:p>
          <a:p>
            <a:r>
              <a:rPr lang="en-US" sz="1600" dirty="0"/>
              <a:t>Joins &amp; Relationships to combines data from multiple tables using JOIN operations (INNER, LEFT, RIGHT, FULL).</a:t>
            </a:r>
          </a:p>
          <a:p>
            <a:r>
              <a:rPr lang="en-US" sz="1600" dirty="0"/>
              <a:t>Aggregations &amp; Grouping to perform aggregations such as SUM, AVG, COUNT with GROUP BY clauses to summarize the datasets.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0546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CCCB2-562B-1B0D-404B-C80A4F6A6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25471-C225-AF9E-103A-76D44AB5C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pc="-18" dirty="0">
                <a:solidFill>
                  <a:srgbClr val="FFFFFF">
                    <a:alpha val="100000"/>
                  </a:srgbClr>
                </a:solidFill>
                <a:latin typeface="IBM Plex Sans" panose="00000700000000000000" pitchFamily="2" charset="0"/>
              </a:rPr>
              <a:t>SQL Query Image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ACA526-B8AC-3082-BD56-F94B364D84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0"/>
            <a:ext cx="12192000" cy="541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73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488C668-1CD9-5F63-F35A-C96C55E98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/>
              <a:t>Advanced Visualization (Power BI)</a:t>
            </a:r>
            <a:br>
              <a:rPr lang="en-IN" dirty="0"/>
            </a:b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2DD9499-4074-C2B7-6F03-A37596578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Imported cleaned data into Power BI for interactive dashboards.</a:t>
            </a:r>
          </a:p>
          <a:p>
            <a:r>
              <a:rPr lang="en-US" sz="1600" dirty="0"/>
              <a:t>Dashboards included filters for age, department, and time periods, providing dynamic insights.</a:t>
            </a:r>
          </a:p>
          <a:p>
            <a:r>
              <a:rPr lang="en-US" sz="1600" dirty="0"/>
              <a:t>Monitored metrics like top diagnoses, average treatment costs, and patient flow trends.</a:t>
            </a:r>
          </a:p>
          <a:p>
            <a:r>
              <a:rPr lang="en-US" sz="1600" dirty="0"/>
              <a:t>Used Data Analysis Expressions (DAX) to create complex calculated columns and measures for advanced analytics.</a:t>
            </a:r>
          </a:p>
          <a:p>
            <a:r>
              <a:rPr lang="en-US" sz="1600" dirty="0"/>
              <a:t>Enabled drill-downs for deeper insights into specific departments or regions.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6456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221"/>
            <a:ext cx="10668000" cy="738980"/>
          </a:xfrm>
        </p:spPr>
        <p:txBody>
          <a:bodyPr/>
          <a:lstStyle/>
          <a:p>
            <a:r>
              <a:rPr lang="en-US" b="1" spc="-18" dirty="0">
                <a:solidFill>
                  <a:srgbClr val="FFFFFF">
                    <a:alpha val="100000"/>
                  </a:srgbClr>
                </a:solidFill>
                <a:latin typeface="IBM Plex Sans" panose="00000700000000000000" pitchFamily="2" charset="0"/>
              </a:rPr>
              <a:t>Power BI Dashboard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0E75C3-403D-2E23-99EB-C5704AF50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0600"/>
            <a:ext cx="12191999" cy="5768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100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CFA0-B504-4D53-4B4D-BF7DE986F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E9844-EB1A-41C1-1EB7-3CA01971B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9220"/>
            <a:ext cx="10058400" cy="1325563"/>
          </a:xfrm>
        </p:spPr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F4076E-D43E-1074-8914-F548D86505E4}"/>
              </a:ext>
            </a:extLst>
          </p:cNvPr>
          <p:cNvSpPr txBox="1"/>
          <p:nvPr/>
        </p:nvSpPr>
        <p:spPr>
          <a:xfrm>
            <a:off x="152400" y="1600200"/>
            <a:ext cx="11887200" cy="3197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sz="1200" b="1" u="sng" dirty="0"/>
              <a:t>Business Insights</a:t>
            </a:r>
          </a:p>
          <a:p>
            <a:endParaRPr lang="en-US" sz="1200" b="1" u="sng" dirty="0"/>
          </a:p>
          <a:p>
            <a:pPr>
              <a:lnSpc>
                <a:spcPct val="150000"/>
              </a:lnSpc>
            </a:pPr>
            <a:r>
              <a:rPr lang="en-US" sz="1200" b="1" dirty="0"/>
              <a:t>Patient Overview:</a:t>
            </a:r>
            <a:r>
              <a:rPr lang="en-US" sz="1200" dirty="0"/>
              <a:t> 10,000 patients served with a balanced gender distribution with average age of patients is 49 years.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Operational Performance:</a:t>
            </a:r>
            <a:endParaRPr lang="en-US" sz="12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Average treatment cost: </a:t>
            </a:r>
            <a:r>
              <a:rPr lang="en-US" sz="1200" b="1" dirty="0"/>
              <a:t>$524.75 </a:t>
            </a:r>
            <a:r>
              <a:rPr lang="en-US" sz="1200" dirty="0"/>
              <a:t>&amp; total revenue: </a:t>
            </a:r>
            <a:r>
              <a:rPr lang="en-US" sz="1200" b="1" dirty="0"/>
              <a:t>$30.65M</a:t>
            </a:r>
            <a:r>
              <a:rPr lang="en-US" sz="1200" dirty="0"/>
              <a:t>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Each doctor handles 10 patients on average.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Health Trends:</a:t>
            </a:r>
            <a:endParaRPr lang="en-US" sz="12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/>
              <a:t>Top Diagnoses:</a:t>
            </a:r>
            <a:r>
              <a:rPr lang="en-US" sz="1200" dirty="0"/>
              <a:t> Migraine, Hypertension, Asthma, Diabetes, and Healthy check-ups dominate visits.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/>
              <a:t>Common Allergies:</a:t>
            </a:r>
            <a:r>
              <a:rPr lang="en-US" sz="1200" dirty="0"/>
              <a:t> Peanuts (21%), Shellfish, Penicillin, Dust.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/>
              <a:t>Frequent Visit Reasons:</a:t>
            </a:r>
            <a:r>
              <a:rPr lang="en-US" sz="1200" dirty="0"/>
              <a:t> Flu symptoms, chronic pain, and follow-ups.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Treatment Outcomes:</a:t>
            </a:r>
            <a:r>
              <a:rPr lang="en-US" sz="1200" dirty="0"/>
              <a:t> Success rate high across surgery, vaccination, and medication, with approximately 50% follow-up rate.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Lab Results:</a:t>
            </a:r>
            <a:r>
              <a:rPr lang="en-US" sz="1200" dirty="0"/>
              <a:t> 33.54% abnormal results indicate a significant patient monitoring requirement.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DD0451-26DC-F8DB-4BE8-EAB60714ADF8}"/>
              </a:ext>
            </a:extLst>
          </p:cNvPr>
          <p:cNvSpPr txBox="1"/>
          <p:nvPr/>
        </p:nvSpPr>
        <p:spPr>
          <a:xfrm>
            <a:off x="152400" y="4785645"/>
            <a:ext cx="11887200" cy="1966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u="sng" dirty="0"/>
              <a:t>2. Challenges</a:t>
            </a:r>
          </a:p>
          <a:p>
            <a:pPr>
              <a:lnSpc>
                <a:spcPct val="150000"/>
              </a:lnSpc>
            </a:pPr>
            <a:endParaRPr lang="en-US" sz="1200" b="1" dirty="0"/>
          </a:p>
          <a:p>
            <a:pPr>
              <a:lnSpc>
                <a:spcPct val="150000"/>
              </a:lnSpc>
            </a:pPr>
            <a:r>
              <a:rPr lang="en-US" sz="1200" b="1" dirty="0"/>
              <a:t>High Abnormal Test Rate:</a:t>
            </a:r>
            <a:r>
              <a:rPr lang="en-US" sz="1200" dirty="0"/>
              <a:t> One-third of lab results are abnormal, suggesting the need for preventive measures and early screening.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Follow-Up Gaps:</a:t>
            </a:r>
            <a:r>
              <a:rPr lang="en-US" sz="1200" dirty="0"/>
              <a:t> Nearly 50% of patients do not return for follow-up care.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Doctor Workload Concentration:</a:t>
            </a:r>
            <a:r>
              <a:rPr lang="en-US" sz="1200" dirty="0"/>
              <a:t> Some specializations (e.g., General Medicine, Cardiology) face higher patient loads.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Geographical Coverage:</a:t>
            </a:r>
            <a:r>
              <a:rPr lang="en-US" sz="1200" dirty="0"/>
              <a:t> Patient concentration in specific states limits outreach to other high-demand regions.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Treatment Discontinuation:</a:t>
            </a:r>
            <a:r>
              <a:rPr lang="en-US" sz="1200" dirty="0"/>
              <a:t> Significant proportion of patients discontinue treatment midway, particularly in physical therapy.</a:t>
            </a:r>
          </a:p>
        </p:txBody>
      </p:sp>
    </p:spTree>
    <p:extLst>
      <p:ext uri="{BB962C8B-B14F-4D97-AF65-F5344CB8AC3E}">
        <p14:creationId xmlns:p14="http://schemas.microsoft.com/office/powerpoint/2010/main" val="3089917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F504C-DB59-346B-295F-991BFE282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73684-C63E-4878-A7DA-47BB13448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9220"/>
            <a:ext cx="10058400" cy="1325563"/>
          </a:xfrm>
        </p:spPr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7F6C6E-78EB-1CDF-275F-14DCFEECFEA0}"/>
              </a:ext>
            </a:extLst>
          </p:cNvPr>
          <p:cNvSpPr txBox="1"/>
          <p:nvPr/>
        </p:nvSpPr>
        <p:spPr>
          <a:xfrm>
            <a:off x="152400" y="1600200"/>
            <a:ext cx="11887200" cy="3042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u="sng" dirty="0"/>
              <a:t>3. Future Recommendations</a:t>
            </a:r>
          </a:p>
          <a:p>
            <a:endParaRPr lang="en-US" sz="1200" b="1" dirty="0"/>
          </a:p>
          <a:p>
            <a:pPr>
              <a:lnSpc>
                <a:spcPct val="200000"/>
              </a:lnSpc>
            </a:pPr>
            <a:r>
              <a:rPr lang="en-US" sz="1400" b="1" dirty="0"/>
              <a:t>Enhance Preventive Healthcare:</a:t>
            </a:r>
            <a:r>
              <a:rPr lang="en-US" sz="1400" dirty="0"/>
              <a:t> Launch awareness programs for early detection and lifestyle management, especially for hypertension and diabetes.</a:t>
            </a:r>
          </a:p>
          <a:p>
            <a:pPr>
              <a:lnSpc>
                <a:spcPct val="200000"/>
              </a:lnSpc>
            </a:pPr>
            <a:r>
              <a:rPr lang="en-US" sz="1400" b="1" dirty="0"/>
              <a:t>Improve Follow-Up Compliance:</a:t>
            </a:r>
            <a:r>
              <a:rPr lang="en-US" sz="1400" dirty="0"/>
              <a:t> Implement automated reminders, teleconsultation options, and follow-up discounts.</a:t>
            </a:r>
          </a:p>
          <a:p>
            <a:pPr>
              <a:lnSpc>
                <a:spcPct val="200000"/>
              </a:lnSpc>
            </a:pPr>
            <a:r>
              <a:rPr lang="en-US" sz="1400" b="1" dirty="0"/>
              <a:t>Balance Workload:</a:t>
            </a:r>
            <a:r>
              <a:rPr lang="en-US" sz="1400" dirty="0"/>
              <a:t> Hire or reallocate specialists to high-demand departments to reduce burnout and improve service quality.</a:t>
            </a:r>
          </a:p>
          <a:p>
            <a:pPr>
              <a:lnSpc>
                <a:spcPct val="200000"/>
              </a:lnSpc>
            </a:pPr>
            <a:r>
              <a:rPr lang="en-US" sz="1400" b="1" dirty="0"/>
              <a:t>Expand Geographic Reach:</a:t>
            </a:r>
            <a:r>
              <a:rPr lang="en-US" sz="1400" dirty="0"/>
              <a:t> Target underserved regions through outreach clinics, partnerships, and marketing campaigns.</a:t>
            </a:r>
          </a:p>
          <a:p>
            <a:pPr>
              <a:lnSpc>
                <a:spcPct val="200000"/>
              </a:lnSpc>
            </a:pPr>
            <a:r>
              <a:rPr lang="en-US" sz="1400" b="1" dirty="0"/>
              <a:t>Data-Driven Care:</a:t>
            </a:r>
            <a:r>
              <a:rPr lang="en-US" sz="1400" dirty="0"/>
              <a:t> Use predictive analytics to identify at risk patients and proactively offer interventions.</a:t>
            </a:r>
          </a:p>
          <a:p>
            <a:pPr>
              <a:lnSpc>
                <a:spcPct val="200000"/>
              </a:lnSpc>
            </a:pPr>
            <a:r>
              <a:rPr lang="en-US" sz="1400" b="1" dirty="0"/>
              <a:t>Treatment Adherence Programs:</a:t>
            </a:r>
            <a:r>
              <a:rPr lang="en-US" sz="1400" dirty="0"/>
              <a:t> Educate and engage patients on completing prescribed therapies to improve outcomes.</a:t>
            </a:r>
          </a:p>
        </p:txBody>
      </p:sp>
    </p:spTree>
    <p:extLst>
      <p:ext uri="{BB962C8B-B14F-4D97-AF65-F5344CB8AC3E}">
        <p14:creationId xmlns:p14="http://schemas.microsoft.com/office/powerpoint/2010/main" val="6488951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62C718-7049-8BBD-3EEE-7C347D605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You😊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09D0D2-3B37-8359-1F0D-655329094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By Group 6</a:t>
            </a:r>
          </a:p>
        </p:txBody>
      </p:sp>
    </p:spTree>
    <p:extLst>
      <p:ext uri="{BB962C8B-B14F-4D97-AF65-F5344CB8AC3E}">
        <p14:creationId xmlns:p14="http://schemas.microsoft.com/office/powerpoint/2010/main" val="1274141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edical Design 16x9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41.potx" id="{D7485564-6666-4DDB-B0D3-55F6E694D6E5}" vid="{6E950D30-6FC6-4411-BCFF-468AD9ECA787}"/>
    </a:ext>
  </a:extLst>
</a:theme>
</file>

<file path=ppt/theme/theme2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MedicalHealth">
      <a:dk1>
        <a:sysClr val="windowText" lastClr="000000"/>
      </a:dk1>
      <a:lt1>
        <a:sysClr val="window" lastClr="FFFFFF"/>
      </a:lt1>
      <a:dk2>
        <a:srgbClr val="656367"/>
      </a:dk2>
      <a:lt2>
        <a:srgbClr val="F2F2F2"/>
      </a:lt2>
      <a:accent1>
        <a:srgbClr val="B82D2F"/>
      </a:accent1>
      <a:accent2>
        <a:srgbClr val="333333"/>
      </a:accent2>
      <a:accent3>
        <a:srgbClr val="2B4A63"/>
      </a:accent3>
      <a:accent4>
        <a:srgbClr val="445E45"/>
      </a:accent4>
      <a:accent5>
        <a:srgbClr val="5A3A64"/>
      </a:accent5>
      <a:accent6>
        <a:srgbClr val="DB8526"/>
      </a:accent6>
      <a:hlink>
        <a:srgbClr val="164E6E"/>
      </a:hlink>
      <a:folHlink>
        <a:srgbClr val="667F6D"/>
      </a:folHlink>
    </a:clrScheme>
    <a:fontScheme name="Franklin Gothic Medium">
      <a:maj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Medical design presentation (widescreen)</Template>
  <TotalTime>88</TotalTime>
  <Words>1026</Words>
  <Application>Microsoft Office PowerPoint</Application>
  <PresentationFormat>Widescreen</PresentationFormat>
  <Paragraphs>94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Franklin Gothic Medium</vt:lpstr>
      <vt:lpstr>IBM Plex Sans</vt:lpstr>
      <vt:lpstr>Medical Design 16x9</vt:lpstr>
      <vt:lpstr>Axon Healthcare</vt:lpstr>
      <vt:lpstr>Group Details</vt:lpstr>
      <vt:lpstr>Project Summary</vt:lpstr>
      <vt:lpstr>KPI List - Key performance indicators and their business relevance</vt:lpstr>
      <vt:lpstr>What we did in Excel</vt:lpstr>
      <vt:lpstr>Excel Dashboard</vt:lpstr>
      <vt:lpstr> Data Visualization &amp; Insights (Tableau) </vt:lpstr>
      <vt:lpstr>Tableau Dashboard</vt:lpstr>
      <vt:lpstr> Data Retrieval &amp; Management (SQL) </vt:lpstr>
      <vt:lpstr>SQL Query Image</vt:lpstr>
      <vt:lpstr> Advanced Visualization (Power BI) </vt:lpstr>
      <vt:lpstr>Power BI Dashboard</vt:lpstr>
      <vt:lpstr>Key Takeaways</vt:lpstr>
      <vt:lpstr>Key Takeaways</vt:lpstr>
      <vt:lpstr>Thank You😊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Kaviraj Shetty</dc:creator>
  <cp:lastModifiedBy>Kaviraj Shetty</cp:lastModifiedBy>
  <cp:revision>21</cp:revision>
  <dcterms:created xsi:type="dcterms:W3CDTF">2025-08-02T10:30:38Z</dcterms:created>
  <dcterms:modified xsi:type="dcterms:W3CDTF">2025-08-08T07:16:27Z</dcterms:modified>
</cp:coreProperties>
</file>